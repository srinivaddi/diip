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10B981"/>
                </a:solidFill>
                <a:latin typeface="Arial"/>
              </a:defRPr>
            </a:pPr>
            <a:r>
              <a:t>DIIP ENGINE</a:t>
            </a:r>
          </a:p>
          <a:p>
            <a:pPr algn="l">
              <a:defRPr sz="2800">
                <a:solidFill>
                  <a:srgbClr val="2DD4BF"/>
                </a:solidFill>
                <a:latin typeface="Arial"/>
              </a:defRPr>
            </a:pPr>
            <a:r>
              <a:t>Digital Institutional Intelligence Platform</a:t>
            </a:r>
          </a:p>
          <a:p>
            <a:br/>
            <a:pPr algn="l">
              <a:defRPr sz="1600">
                <a:solidFill>
                  <a:srgbClr val="E2E8F0"/>
                </a:solidFill>
                <a:latin typeface="Arial"/>
              </a:defRPr>
            </a:pPr>
            <a:r>
              <a:t>Democratizing Institutional Allocation Signals for Individual Investors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Arial"/>
              </a:defRPr>
            </a:pPr>
            <a:r>
              <a:t>The Market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Wall Street Complexity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Retail investors are locked out of high-grade institutional research reports (Morgan Stanley, Goldman Sachs, Vanguard) due to dense, inaccessible financial jargon.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The Retail FOMO Cycle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Without active positioning guides, individual investors routinely buy assets at the absolute peak of popularity, suffering immediate corrections due to institutional crowding.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No Actionable Focus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Existing retail platforms provide raw news feeds without clear action triggers (Buy, Sell, or Hold), leading to analysis paralysis for the layman user.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Arial"/>
              </a:defRPr>
            </a:pPr>
            <a:r>
              <a:t>The DIIP Engine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Unified Asset Stance Signals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Groups public equities, ETFs, and Mutual Funds into simple green, yellow, and red categories: Buy (Green Light), Hold (Neutral), Avoid (Red Flag).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Live Multi-Scraper Ingestion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Parses and structures commentaries dynamically from 6 leading global desks (Morgan Stanley, Vanguard, Fidelity, BlackRock, Goldman Sachs, JPMorgan).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Automated Jargon Translation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Includes a client-side 'Layman Mode' switch that translates professional terminology on-the-fly (e.g. 'Options Call Skew' becomes 'Speculative Bullish Bets').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Live Quantitative Re-ranking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Connects to Yahoo Finance Spark API in single consolidated batch calls to dynamically calculate momentum, automatically downgraded if high institutional crowding is detected.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Arial"/>
              </a:defRPr>
            </a:pPr>
            <a:r>
              <a:t>Multi-Agent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Research Agent (Crawler)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Asynchronously fetches commentaries, PDFs, and releases from institutional desks, structuring them into clean Markdown format.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Positioning Agent (Overweight Detector)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Monitors Options Call Skew, Short Interest Ratio, and CFTC Net Long placements to compute quantitative Crowding Scores (0-100%).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Narrative Agent (Regime Classifier)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Classifies monthly macroeconomic indicators (CPI, PPI inflation, Fed interest rate spreads) to detect thematic shifts over time.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Portfolio Management Agent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Validates asset allocations, provides weight structures, and maintains a resilience channel caching Yahoo Finance spark inputs via Stale-While-Revalidate (SWR) rules.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  <a:latin typeface="Arial"/>
              </a:defRPr>
            </a:pPr>
            <a:r>
              <a:t>Business Impact &amp;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Democratic Wealth Management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Empowers retail platforms to offer institution-grade market insights to everyday traders, building high product loyalty.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Dynamic Forecast Horizons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Provides toggles for 30-Day, 6-Month, and 1-Year outlooks, aligning recommendations to the user's specific long-term target time frames rather than short-term price noise.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Peak Risk Mitigation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Prevents retail trading accounts from buying into over-popular, highly leveraged trades by displaying visible 'Too Crowded' warnings.</a:t>
            </a:r>
            <a:br/>
          </a:p>
          <a:p>
            <a:pPr>
              <a:defRPr sz="2000" b="1">
                <a:solidFill>
                  <a:srgbClr val="2DD4BF"/>
                </a:solidFill>
                <a:latin typeface="Arial"/>
              </a:defRPr>
            </a:pPr>
            <a:r>
              <a:t>•  Scalable Platform Extensions</a:t>
            </a:r>
          </a:p>
          <a:p>
            <a:pPr>
              <a:defRPr sz="1500">
                <a:solidFill>
                  <a:srgbClr val="E2E8F0"/>
                </a:solidFill>
                <a:latin typeface="Arial"/>
              </a:defRPr>
            </a:pPr>
            <a:r>
              <a:t>    FastAPI backend and React frontend are fully compiled, optimized, and ready for REST/WebSocket production deployments.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